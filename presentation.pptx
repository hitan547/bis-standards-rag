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7432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× SS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RAG system that turns product descriptions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accurate IS code recommendations in seconds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265176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34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Hit Rate @3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4434840"/>
            <a:ext cx="265176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4434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 MRR @5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4434840"/>
            <a:ext cx="2651760" cy="59436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434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3.7s  Avg Latency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0" y="868680"/>
            <a:ext cx="2743200" cy="2743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1554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943600" y="2514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MSEs spend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IS codes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212080" cy="530352"/>
          </a:xfrm>
          <a:prstGeom prst="rect">
            <a:avLst/>
          </a:prstGeom>
          <a:solidFill>
            <a:srgbClr val="E8F4F8"/>
          </a:solidFill>
          <a:ln w="6350">
            <a:solidFill>
              <a:srgbClr val="C8D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173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BIS SP 21 contains 574+ standards across 14 categories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5212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7568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search tool — MSEs read documents manually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5212080" cy="530352"/>
          </a:xfrm>
          <a:prstGeom prst="rect">
            <a:avLst/>
          </a:prstGeom>
          <a:solidFill>
            <a:srgbClr val="E8F4F8"/>
          </a:solidFill>
          <a:ln w="6350">
            <a:solidFill>
              <a:srgbClr val="C8DC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3405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Wrong standard = product rejection + legal risk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5212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9242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Compliance consultants cost ₹50,000–₹2,00,000+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050792"/>
            <a:ext cx="5212080" cy="530352"/>
          </a:xfrm>
          <a:prstGeom prst="rect">
            <a:avLst/>
          </a:prstGeom>
          <a:solidFill>
            <a:srgbClr val="E8F4F8"/>
          </a:solidFill>
          <a:ln w="6350">
            <a:solidFill>
              <a:srgbClr val="C8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5079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Weeks of delay before a product can go to market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SOLUTION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product description to verified IS codes in seconds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1417320"/>
          </a:xfrm>
          <a:prstGeom prst="rect">
            <a:avLst/>
          </a:prstGeom>
          <a:solidFill>
            <a:srgbClr val="1A3A5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91440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54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Hybrid Retrieval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dense + BM25 sparse search fused with Reciprocal Rank Fusion for maximum recall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4114800" cy="1417320"/>
          </a:xfrm>
          <a:prstGeom prst="rect">
            <a:avLst/>
          </a:prstGeom>
          <a:solidFill>
            <a:srgbClr val="1A3A5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63040"/>
            <a:ext cx="91440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554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Corrective RAG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10912" y="19385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self-validates every IS code — retries automatically if hallucination detected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114800" cy="1417320"/>
          </a:xfrm>
          <a:prstGeom prst="rect">
            <a:avLst/>
          </a:prstGeom>
          <a:solidFill>
            <a:srgbClr val="1A3A5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08960"/>
            <a:ext cx="91440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200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Query Expansion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0352" y="358444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rewrites your query 3 ways, merging results for broader and more accurate coverage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108960"/>
            <a:ext cx="4114800" cy="1417320"/>
          </a:xfrm>
          <a:prstGeom prst="rect">
            <a:avLst/>
          </a:prstGeom>
          <a:solidFill>
            <a:srgbClr val="1A3A5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108960"/>
            <a:ext cx="91440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200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 &amp; Accurate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10912" y="358444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Sub-4-second response with 100% Hit Rate and 1.0 MRR on the public test set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SYSTEM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14400" cy="9144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44752" y="1261872"/>
            <a:ext cx="274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Description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input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868680"/>
            <a:ext cx="914400" cy="9144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907792" y="1261872"/>
            <a:ext cx="274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3 phrasings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868680"/>
            <a:ext cx="914400" cy="9144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70832" y="1261872"/>
            <a:ext cx="274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BM25 + RRF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868680"/>
            <a:ext cx="914400" cy="9144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833872" y="1261872"/>
            <a:ext cx="274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868680"/>
            <a:ext cx="914400" cy="9144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296912" y="1261872"/>
            <a:ext cx="274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 Agent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LLaMA 70B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18120" y="868680"/>
            <a:ext cx="914400" cy="9144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868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8952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IS Codes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+ rationale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16916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BAAI/bge-small-en-v1.5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(IndexFlatIP)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(rank-bm25)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cross-encoder/ms-marco-MiniLM-L-6-v2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3.3 70B via Groq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corrective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CHUNKING &amp; RETRIEVAL STRATEGY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931920" cy="74980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SUMMARY OF split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21 uses this header before every standard — far more reliable than IS codes at line start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3931920" cy="74980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Dual chunking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&gt; 800 chars produce 2 chunks: header+scope and requirements+body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3931920" cy="74980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Part numbers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1489 (Part 2):1991 parsed correctly — most teams miss this entirely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3931920" cy="749808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Merge duplicates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 blocks merged, not dropped — preserves all content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3931920" cy="749808"/>
          </a:xfrm>
          <a:prstGeom prst="rect">
            <a:avLst/>
          </a:prstGeom>
          <a:solidFill>
            <a:srgbClr val="1A3A5C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BGE embeddings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bge-small-en-v1.5 with passage prefix — better than all-MiniLM for retrieval tasks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3931920" cy="749808"/>
          </a:xfrm>
          <a:prstGeom prst="rect">
            <a:avLst/>
          </a:prstGeom>
          <a:solidFill>
            <a:srgbClr val="1A3A5C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RRF fusion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combines dense + sparse lists — no score normalisation needed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3931920" cy="749808"/>
          </a:xfrm>
          <a:prstGeom prst="rect">
            <a:avLst/>
          </a:prstGeom>
          <a:solidFill>
            <a:srgbClr val="1A3A5C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Cross-encoder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 reranker scores all candidates against query for precise ordering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886200"/>
            <a:ext cx="3931920" cy="749808"/>
          </a:xfrm>
          <a:prstGeom prst="rect">
            <a:avLst/>
          </a:prstGeom>
          <a:solidFill>
            <a:srgbClr val="1A3A5C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Score fusion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queries weighted 1.0 (original) vs 0.7 (expansions) in merge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DEMO HIGHLIGHTS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product description → instantly get ranked IS codes with confidence scores and rationale. Category badges, copy-ready IS codes.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11480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C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86868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868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validated — IS codes not in the SP 21 index are rejected and regenerated. Zero hallucination tolerance.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3464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34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3 alternate phrasings automatically. Results from all phrasings are merged and deduplicated using score fusion.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114800" cy="17830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83464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834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2918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at /recommend accepts product descriptions and returns JSON with standards, rationale, retry count and validation status.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EVALUATION 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Test Set — 10 Queries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2194560"/>
          </a:xfrm>
          <a:prstGeom prst="rect">
            <a:avLst/>
          </a:prstGeom>
          <a:solidFill>
            <a:srgbClr val="1A3A5C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@3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&gt;80%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EXCEEDED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06040" cy="2194560"/>
          </a:xfrm>
          <a:prstGeom prst="rect">
            <a:avLst/>
          </a:prstGeom>
          <a:solidFill>
            <a:srgbClr val="1A3A5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508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33756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@5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880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&gt;0.70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3246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EXCEEDED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06040" cy="2194560"/>
          </a:xfrm>
          <a:prstGeom prst="rect">
            <a:avLst/>
          </a:prstGeom>
          <a:solidFill>
            <a:srgbClr val="1A3A5C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08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3.7s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21792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880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&lt;5.0s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246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EXCEEDED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10/10 queries returned the expected standard in top-3 results at rank 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749808" cy="68580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1605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PUB-01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33856" y="4160520"/>
            <a:ext cx="749808" cy="68580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3856" y="41605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PUB-02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93392" y="4160520"/>
            <a:ext cx="749808" cy="68580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41605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PUB-03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52928" y="4160520"/>
            <a:ext cx="749808" cy="68580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41605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PUB-04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12464" y="4160520"/>
            <a:ext cx="749808" cy="68580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12464" y="41605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PUB-05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4160520"/>
            <a:ext cx="749808" cy="68580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1605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PUB-06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31536" y="4160520"/>
            <a:ext cx="749808" cy="68580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31536" y="41605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PUB-07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91072" y="4160520"/>
            <a:ext cx="749808" cy="68580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41605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PUB-08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50608" y="4160520"/>
            <a:ext cx="749808" cy="68580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0608" y="41605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PUB-09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10144" y="4160520"/>
            <a:ext cx="749808" cy="685800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10144" y="416052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PUB-10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IMPACT ON MSEs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53035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6–8 weeks searching SP 21 manually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840480" cy="53035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₹50,000+ consultant fees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840480" cy="53035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603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Risk of picking wrong standard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3840480" cy="53035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004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No rationale — hard to justify choice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2148840"/>
            <a:ext cx="27432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874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4632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3840480" cy="530352"/>
          </a:xfrm>
          <a:prstGeom prst="rect">
            <a:avLst/>
          </a:prstGeom>
          <a:solidFill>
            <a:srgbClr val="F0FFF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2801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&lt; 4 seconds to get ranked IS codes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920240"/>
            <a:ext cx="3840480" cy="530352"/>
          </a:xfrm>
          <a:prstGeom prst="rect">
            <a:avLst/>
          </a:prstGeom>
          <a:solidFill>
            <a:srgbClr val="F0FFF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92024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Zero cost — open source + free LLM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560320"/>
            <a:ext cx="3840480" cy="530352"/>
          </a:xfrm>
          <a:prstGeom prst="rect">
            <a:avLst/>
          </a:prstGeom>
          <a:solidFill>
            <a:srgbClr val="F0FFF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5603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accuracy, zero hallucinations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200400"/>
            <a:ext cx="3840480" cy="530352"/>
          </a:xfrm>
          <a:prstGeom prst="rect">
            <a:avLst/>
          </a:prstGeom>
          <a:solidFill>
            <a:srgbClr val="F0FFF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2004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AI rationale included for each standard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India's 6.3 crore MSEs access BIS compliance — fast, free, and accurate.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TEAM &amp; ACKNOWLEDGEMENTS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404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Hitan 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RAG Developer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APIs Used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LangGraph — corrective agent framework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FAISS — vector similarity 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Groq — free LLaMA 3.3 70B inference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BAAI/bge-small-en-v1.5 — embeddings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pdfplumber — PDF text extraction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Streamlit — UI framework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822960"/>
            <a:ext cx="3657600" cy="411480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@3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@5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3.70s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3063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Indexed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Standards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4069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🏗️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 Standards Recommendation Engine</dc:title>
  <dc:subject>PptxGenJS Presentation</dc:subject>
  <dc:creator>PptxGenJS</dc:creator>
  <cp:lastModifiedBy>PptxGenJS</cp:lastModifiedBy>
  <cp:revision>1</cp:revision>
  <dcterms:created xsi:type="dcterms:W3CDTF">2026-05-02T21:19:23Z</dcterms:created>
  <dcterms:modified xsi:type="dcterms:W3CDTF">2026-05-02T21:19:23Z</dcterms:modified>
</cp:coreProperties>
</file>